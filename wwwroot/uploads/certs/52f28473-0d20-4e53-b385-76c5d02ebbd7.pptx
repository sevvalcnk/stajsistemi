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4630400" cy="8229600"/>
  <p:notesSz cx="8229600" cy="14630400"/>
  <p:embeddedFontLst>
    <p:embeddedFont>
      <p:font typeface="Inter" panose="020B0604020202020204" charset="0"/>
      <p:regular r:id="rId15"/>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399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11.xml"/><Relationship Id="rId1" Type="http://schemas.openxmlformats.org/officeDocument/2006/relationships/video" Target="https://www.youtube.com/embed/ti6l8G7hG9U?feature=oembed"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aa.com.tr/" TargetMode="External"/><Relationship Id="rId3" Type="http://schemas.openxmlformats.org/officeDocument/2006/relationships/hyperlink" Target="https://muratulker.com/" TargetMode="External"/><Relationship Id="rId7" Type="http://schemas.openxmlformats.org/officeDocument/2006/relationships/hyperlink" Target="https://tr.wikipedia.org/wiki/Murat_%C3%9Clker" TargetMode="External"/><Relationship Id="rId2" Type="http://schemas.openxmlformats.org/officeDocument/2006/relationships/hyperlink" Target="https://www.yildizholding.com.tr/" TargetMode="External"/><Relationship Id="rId1" Type="http://schemas.openxmlformats.org/officeDocument/2006/relationships/slideLayout" Target="../slideLayouts/slideLayout11.xml"/><Relationship Id="rId6" Type="http://schemas.openxmlformats.org/officeDocument/2006/relationships/hyperlink" Target="https://www.forbes.com.tr/" TargetMode="External"/><Relationship Id="rId5" Type="http://schemas.openxmlformats.org/officeDocument/2006/relationships/hyperlink" Target="https://www.ulker.com.tr/" TargetMode="External"/><Relationship Id="rId4" Type="http://schemas.openxmlformats.org/officeDocument/2006/relationships/hyperlink" Target="https://www.pladisgloba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028355"/>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Murat Ülker: Yıldız Holding'in Başarı Hikayesi</a:t>
            </a:r>
            <a:endParaRPr lang="en-US" sz="3900" dirty="0"/>
          </a:p>
        </p:txBody>
      </p:sp>
      <p:sp>
        <p:nvSpPr>
          <p:cNvPr id="4" name="Text 1"/>
          <p:cNvSpPr/>
          <p:nvPr/>
        </p:nvSpPr>
        <p:spPr>
          <a:xfrm>
            <a:off x="6280190" y="4566166"/>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Türkiye'nin en güçlü holdinglerinden birinin liderliği ve küresel büyüme stratejileri</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17884"/>
            <a:ext cx="973431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Yıldız Holding: Türkiye'nin Küresel Gücü</a:t>
            </a:r>
            <a:endParaRPr lang="en-US" sz="3900" dirty="0"/>
          </a:p>
        </p:txBody>
      </p:sp>
      <p:sp>
        <p:nvSpPr>
          <p:cNvPr id="3" name="Text 1"/>
          <p:cNvSpPr/>
          <p:nvPr/>
        </p:nvSpPr>
        <p:spPr>
          <a:xfrm>
            <a:off x="793790" y="3214211"/>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Yıldız Holding, 1</a:t>
            </a:r>
            <a:r>
              <a:rPr lang="tr-TR" sz="1550">
                <a:solidFill>
                  <a:srgbClr val="272525"/>
                </a:solidFill>
                <a:latin typeface="Inter" pitchFamily="34" charset="0"/>
                <a:ea typeface="Inter" pitchFamily="34" charset="-122"/>
                <a:cs typeface="Inter" pitchFamily="34" charset="-120"/>
              </a:rPr>
              <a:t>944</a:t>
            </a:r>
            <a:r>
              <a:rPr lang="en-US" sz="1550">
                <a:solidFill>
                  <a:srgbClr val="272525"/>
                </a:solidFill>
                <a:latin typeface="Inter" pitchFamily="34" charset="0"/>
                <a:ea typeface="Inter" pitchFamily="34" charset="-122"/>
                <a:cs typeface="Inter" pitchFamily="34" charset="-120"/>
              </a:rPr>
              <a:t> </a:t>
            </a:r>
            <a:r>
              <a:rPr lang="en-US" sz="1550" dirty="0">
                <a:solidFill>
                  <a:srgbClr val="272525"/>
                </a:solidFill>
                <a:latin typeface="Inter" pitchFamily="34" charset="0"/>
                <a:ea typeface="Inter" pitchFamily="34" charset="-122"/>
                <a:cs typeface="Inter" pitchFamily="34" charset="-120"/>
              </a:rPr>
              <a:t>yılında kurulan ve gıda sektöründe küresel bir güç haline gelen çok uluslu bir holding yapıdır. 100'den fazla ülkede faaliyet gösteren holding, Unilever, Nestlé ve Mondelez gibi dev rakiplerle rekabet eden bir yapıya sahiptir.</a:t>
            </a:r>
            <a:endParaRPr lang="en-US" sz="1550" dirty="0"/>
          </a:p>
        </p:txBody>
      </p:sp>
      <p:sp>
        <p:nvSpPr>
          <p:cNvPr id="4" name="Text 2"/>
          <p:cNvSpPr/>
          <p:nvPr/>
        </p:nvSpPr>
        <p:spPr>
          <a:xfrm>
            <a:off x="793790" y="4662964"/>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Holding, 40'tan fazla ülkede üretim yapan, 70.000'den fazla çalışanı istihdam eden ve yıllık 490,5 milyar TL ciro elde eden dev bir işletme ağıdır. Türkiye'de başlayan bu başarı hikayesi, pladis'in kurulmasıyla dünya çapında bir marka gücü haline gelmiştir.</a:t>
            </a:r>
            <a:endParaRPr lang="en-US" sz="1550" dirty="0"/>
          </a:p>
        </p:txBody>
      </p:sp>
      <p:sp>
        <p:nvSpPr>
          <p:cNvPr id="5" name="Shape 3"/>
          <p:cNvSpPr/>
          <p:nvPr/>
        </p:nvSpPr>
        <p:spPr>
          <a:xfrm>
            <a:off x="8774668" y="3035618"/>
            <a:ext cx="5212318" cy="3076099"/>
          </a:xfrm>
          <a:prstGeom prst="roundRect">
            <a:avLst>
              <a:gd name="adj" fmla="val 4646"/>
            </a:avLst>
          </a:prstGeom>
          <a:solidFill>
            <a:srgbClr val="1A5F6A"/>
          </a:solidFill>
          <a:ln/>
        </p:spPr>
      </p:sp>
      <p:sp>
        <p:nvSpPr>
          <p:cNvPr id="6" name="Text 4"/>
          <p:cNvSpPr/>
          <p:nvPr/>
        </p:nvSpPr>
        <p:spPr>
          <a:xfrm>
            <a:off x="8973026" y="3233976"/>
            <a:ext cx="2679502"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Inter Bold" pitchFamily="34" charset="0"/>
                <a:ea typeface="Inter Bold" pitchFamily="34" charset="-122"/>
                <a:cs typeface="Inter Bold" pitchFamily="34" charset="-120"/>
              </a:rPr>
              <a:t>Yıldız Holding'in Gücü</a:t>
            </a:r>
            <a:endParaRPr lang="en-US" sz="1950" dirty="0"/>
          </a:p>
        </p:txBody>
      </p:sp>
      <p:sp>
        <p:nvSpPr>
          <p:cNvPr id="7" name="Text 5"/>
          <p:cNvSpPr/>
          <p:nvPr/>
        </p:nvSpPr>
        <p:spPr>
          <a:xfrm>
            <a:off x="8973026" y="3742492"/>
            <a:ext cx="4815602"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FFFFFF"/>
                </a:solidFill>
                <a:latin typeface="Inter" pitchFamily="34" charset="0"/>
                <a:ea typeface="Inter" pitchFamily="34" charset="-122"/>
                <a:cs typeface="Inter" pitchFamily="34" charset="-120"/>
              </a:rPr>
              <a:t>100+ ülke</a:t>
            </a:r>
            <a:endParaRPr lang="en-US" sz="1550" dirty="0"/>
          </a:p>
          <a:p>
            <a:pPr marL="342900" indent="-342900" algn="l">
              <a:lnSpc>
                <a:spcPts val="2500"/>
              </a:lnSpc>
              <a:buSzPct val="100000"/>
              <a:buChar char="•"/>
            </a:pPr>
            <a:r>
              <a:rPr lang="en-US" sz="1550" dirty="0">
                <a:solidFill>
                  <a:srgbClr val="FFFFFF"/>
                </a:solidFill>
                <a:latin typeface="Inter" pitchFamily="34" charset="0"/>
                <a:ea typeface="Inter" pitchFamily="34" charset="-122"/>
                <a:cs typeface="Inter" pitchFamily="34" charset="-120"/>
              </a:rPr>
              <a:t>70.000+ çalışan</a:t>
            </a:r>
            <a:endParaRPr lang="en-US" sz="1550" dirty="0"/>
          </a:p>
          <a:p>
            <a:pPr marL="342900" indent="-342900" algn="l">
              <a:lnSpc>
                <a:spcPts val="2500"/>
              </a:lnSpc>
              <a:buSzPct val="100000"/>
              <a:buChar char="•"/>
            </a:pPr>
            <a:r>
              <a:rPr lang="en-US" sz="1550" dirty="0">
                <a:solidFill>
                  <a:srgbClr val="FFFFFF"/>
                </a:solidFill>
                <a:latin typeface="Inter" pitchFamily="34" charset="0"/>
                <a:ea typeface="Inter" pitchFamily="34" charset="-122"/>
                <a:cs typeface="Inter" pitchFamily="34" charset="-120"/>
              </a:rPr>
              <a:t>40+ üretim tesisi</a:t>
            </a:r>
            <a:endParaRPr lang="en-US" sz="1550" dirty="0"/>
          </a:p>
          <a:p>
            <a:pPr marL="342900" indent="-342900" algn="l">
              <a:lnSpc>
                <a:spcPts val="2500"/>
              </a:lnSpc>
              <a:buSzPct val="100000"/>
              <a:buChar char="•"/>
            </a:pPr>
            <a:r>
              <a:rPr lang="en-US" sz="1550" dirty="0">
                <a:solidFill>
                  <a:srgbClr val="FFFFFF"/>
                </a:solidFill>
                <a:latin typeface="Inter" pitchFamily="34" charset="0"/>
                <a:ea typeface="Inter" pitchFamily="34" charset="-122"/>
                <a:cs typeface="Inter" pitchFamily="34" charset="-120"/>
              </a:rPr>
              <a:t>490,5 Milyar TL ciro</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51258" y="567690"/>
            <a:ext cx="7614285" cy="1194911"/>
          </a:xfrm>
          <a:prstGeom prst="rect">
            <a:avLst/>
          </a:prstGeom>
          <a:noFill/>
          <a:ln/>
        </p:spPr>
        <p:txBody>
          <a:bodyPr wrap="square" lIns="0" tIns="0" rIns="0" bIns="0" rtlCol="0" anchor="t"/>
          <a:lstStyle/>
          <a:p>
            <a:pPr marL="0" indent="0" algn="l">
              <a:lnSpc>
                <a:spcPts val="4700"/>
              </a:lnSpc>
              <a:buNone/>
            </a:pPr>
            <a:r>
              <a:rPr lang="tr-TR" sz="3750" b="1" dirty="0">
                <a:solidFill>
                  <a:srgbClr val="000000"/>
                </a:solidFill>
                <a:latin typeface="Inter Bold" pitchFamily="34" charset="0"/>
                <a:ea typeface="Inter Bold" pitchFamily="34" charset="-122"/>
                <a:cs typeface="Inter Bold" pitchFamily="34" charset="-120"/>
              </a:rPr>
              <a:t>P</a:t>
            </a:r>
            <a:r>
              <a:rPr lang="en-US" sz="3750" b="1" dirty="0" err="1">
                <a:solidFill>
                  <a:srgbClr val="000000"/>
                </a:solidFill>
                <a:latin typeface="Inter Bold" pitchFamily="34" charset="0"/>
                <a:ea typeface="Inter Bold" pitchFamily="34" charset="-122"/>
                <a:cs typeface="Inter Bold" pitchFamily="34" charset="-120"/>
              </a:rPr>
              <a:t>ladis</a:t>
            </a:r>
            <a:r>
              <a:rPr lang="en-US" sz="3750" b="1" dirty="0">
                <a:solidFill>
                  <a:srgbClr val="000000"/>
                </a:solidFill>
                <a:latin typeface="Inter Bold" pitchFamily="34" charset="0"/>
                <a:ea typeface="Inter Bold" pitchFamily="34" charset="-122"/>
                <a:cs typeface="Inter Bold" pitchFamily="34" charset="-120"/>
              </a:rPr>
              <a:t>: Dünyanın En Büyük Bisküvi İmparatorluğu</a:t>
            </a:r>
            <a:endParaRPr lang="en-US" sz="3750" dirty="0"/>
          </a:p>
        </p:txBody>
      </p:sp>
      <p:sp>
        <p:nvSpPr>
          <p:cNvPr id="4" name="Text 1"/>
          <p:cNvSpPr/>
          <p:nvPr/>
        </p:nvSpPr>
        <p:spPr>
          <a:xfrm>
            <a:off x="6251258" y="2038826"/>
            <a:ext cx="7614285" cy="1201103"/>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2016 yılında </a:t>
            </a:r>
            <a:r>
              <a:rPr lang="en-US" sz="1500" dirty="0" err="1">
                <a:solidFill>
                  <a:srgbClr val="272525"/>
                </a:solidFill>
                <a:latin typeface="Inter" pitchFamily="34" charset="0"/>
                <a:ea typeface="Inter" pitchFamily="34" charset="-122"/>
                <a:cs typeface="Inter" pitchFamily="34" charset="-120"/>
              </a:rPr>
              <a:t>kurulan</a:t>
            </a:r>
            <a:r>
              <a:rPr lang="en-US" sz="1500" dirty="0">
                <a:solidFill>
                  <a:srgbClr val="272525"/>
                </a:solidFill>
                <a:latin typeface="Inter" pitchFamily="34" charset="0"/>
                <a:ea typeface="Inter" pitchFamily="34" charset="-122"/>
                <a:cs typeface="Inter" pitchFamily="34" charset="-120"/>
              </a:rPr>
              <a:t> </a:t>
            </a:r>
            <a:r>
              <a:rPr lang="tr-TR" sz="1500" dirty="0">
                <a:solidFill>
                  <a:srgbClr val="272525"/>
                </a:solidFill>
                <a:latin typeface="Inter" pitchFamily="34" charset="0"/>
                <a:ea typeface="Inter" pitchFamily="34" charset="-122"/>
                <a:cs typeface="Inter" pitchFamily="34" charset="-120"/>
              </a:rPr>
              <a:t>p</a:t>
            </a:r>
            <a:r>
              <a:rPr lang="en-US" sz="1500" dirty="0" err="1">
                <a:solidFill>
                  <a:srgbClr val="272525"/>
                </a:solidFill>
                <a:latin typeface="Inter" pitchFamily="34" charset="0"/>
                <a:ea typeface="Inter" pitchFamily="34" charset="-122"/>
                <a:cs typeface="Inter" pitchFamily="34" charset="-120"/>
              </a:rPr>
              <a:t>ladis</a:t>
            </a:r>
            <a:r>
              <a:rPr lang="en-US" sz="1500" dirty="0">
                <a:solidFill>
                  <a:srgbClr val="272525"/>
                </a:solidFill>
                <a:latin typeface="Inter" pitchFamily="34" charset="0"/>
                <a:ea typeface="Inter" pitchFamily="34" charset="-122"/>
                <a:cs typeface="Inter" pitchFamily="34" charset="-120"/>
              </a:rPr>
              <a:t>, Yıldız Holding'in küresel bisküvi pazarındaki liderliğini temsil eden bir holding yapısıdır. Kellogg's ve Mondelez'in ardından dünyanın en büyük 2. bisküvi şirketi konumunda olan pladis, Godiva, McVitie’s, </a:t>
            </a:r>
            <a:r>
              <a:rPr lang="tr-TR" sz="1500" dirty="0">
                <a:solidFill>
                  <a:srgbClr val="272525"/>
                </a:solidFill>
                <a:latin typeface="Inter" pitchFamily="34" charset="0"/>
                <a:ea typeface="Inter" pitchFamily="34" charset="-122"/>
                <a:cs typeface="Inter" pitchFamily="34" charset="-120"/>
              </a:rPr>
              <a:t>Ü</a:t>
            </a:r>
            <a:r>
              <a:rPr lang="en-US" sz="1500" dirty="0" err="1">
                <a:solidFill>
                  <a:srgbClr val="272525"/>
                </a:solidFill>
                <a:latin typeface="Inter" pitchFamily="34" charset="0"/>
                <a:ea typeface="Inter" pitchFamily="34" charset="-122"/>
                <a:cs typeface="Inter" pitchFamily="34" charset="-120"/>
              </a:rPr>
              <a:t>lker</a:t>
            </a:r>
            <a:r>
              <a:rPr lang="en-US" sz="1500" dirty="0">
                <a:solidFill>
                  <a:srgbClr val="272525"/>
                </a:solidFill>
                <a:latin typeface="Inter" pitchFamily="34" charset="0"/>
                <a:ea typeface="Inter" pitchFamily="34" charset="-122"/>
                <a:cs typeface="Inter" pitchFamily="34" charset="-120"/>
              </a:rPr>
              <a:t> ve Ülker gibi dev markaların tümünü tek bir çatra altında toplar.</a:t>
            </a:r>
            <a:endParaRPr lang="en-US" sz="1500" dirty="0"/>
          </a:p>
        </p:txBody>
      </p:sp>
      <p:sp>
        <p:nvSpPr>
          <p:cNvPr id="5" name="Shape 2"/>
          <p:cNvSpPr/>
          <p:nvPr/>
        </p:nvSpPr>
        <p:spPr>
          <a:xfrm>
            <a:off x="6251258" y="3447098"/>
            <a:ext cx="3714988" cy="2165390"/>
          </a:xfrm>
          <a:prstGeom prst="roundRect">
            <a:avLst>
              <a:gd name="adj" fmla="val 3709"/>
            </a:avLst>
          </a:prstGeom>
          <a:solidFill>
            <a:srgbClr val="DADBF1"/>
          </a:solidFill>
          <a:ln w="7620">
            <a:solidFill>
              <a:srgbClr val="C0C1D7"/>
            </a:solidFill>
            <a:prstDash val="solid"/>
          </a:ln>
        </p:spPr>
      </p:sp>
      <p:sp>
        <p:nvSpPr>
          <p:cNvPr id="6" name="Shape 3"/>
          <p:cNvSpPr/>
          <p:nvPr/>
        </p:nvSpPr>
        <p:spPr>
          <a:xfrm>
            <a:off x="6450092" y="3645932"/>
            <a:ext cx="573643" cy="573643"/>
          </a:xfrm>
          <a:prstGeom prst="roundRect">
            <a:avLst>
              <a:gd name="adj" fmla="val 15938634"/>
            </a:avLst>
          </a:prstGeom>
          <a:solidFill>
            <a:srgbClr val="4950BC"/>
          </a:solidFill>
          <a:ln/>
        </p:spPr>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07850" y="3803690"/>
            <a:ext cx="258128" cy="258128"/>
          </a:xfrm>
          <a:prstGeom prst="rect">
            <a:avLst/>
          </a:prstGeom>
        </p:spPr>
      </p:pic>
      <p:sp>
        <p:nvSpPr>
          <p:cNvPr id="8" name="Text 4"/>
          <p:cNvSpPr/>
          <p:nvPr/>
        </p:nvSpPr>
        <p:spPr>
          <a:xfrm>
            <a:off x="6450092" y="4403765"/>
            <a:ext cx="2390180" cy="298847"/>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Godiva</a:t>
            </a:r>
            <a:endParaRPr lang="en-US" sz="1850" dirty="0"/>
          </a:p>
        </p:txBody>
      </p:sp>
      <p:sp>
        <p:nvSpPr>
          <p:cNvPr id="9" name="Text 5"/>
          <p:cNvSpPr/>
          <p:nvPr/>
        </p:nvSpPr>
        <p:spPr>
          <a:xfrm>
            <a:off x="6450092" y="4813102"/>
            <a:ext cx="3317319" cy="600551"/>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Lüks çikolata sektörünün dünyaca ünlü markası</a:t>
            </a:r>
            <a:endParaRPr lang="en-US" sz="1500" dirty="0"/>
          </a:p>
        </p:txBody>
      </p:sp>
      <p:sp>
        <p:nvSpPr>
          <p:cNvPr id="10" name="Shape 6"/>
          <p:cNvSpPr/>
          <p:nvPr/>
        </p:nvSpPr>
        <p:spPr>
          <a:xfrm>
            <a:off x="10150435" y="3447098"/>
            <a:ext cx="3715107" cy="2165390"/>
          </a:xfrm>
          <a:prstGeom prst="roundRect">
            <a:avLst>
              <a:gd name="adj" fmla="val 3709"/>
            </a:avLst>
          </a:prstGeom>
          <a:solidFill>
            <a:srgbClr val="DADBF1"/>
          </a:solidFill>
          <a:ln w="7620">
            <a:solidFill>
              <a:srgbClr val="C0C1D7"/>
            </a:solidFill>
            <a:prstDash val="solid"/>
          </a:ln>
        </p:spPr>
      </p:sp>
      <p:sp>
        <p:nvSpPr>
          <p:cNvPr id="11" name="Shape 7"/>
          <p:cNvSpPr/>
          <p:nvPr/>
        </p:nvSpPr>
        <p:spPr>
          <a:xfrm>
            <a:off x="10349270" y="3645932"/>
            <a:ext cx="573643" cy="573643"/>
          </a:xfrm>
          <a:prstGeom prst="roundRect">
            <a:avLst>
              <a:gd name="adj" fmla="val 15938634"/>
            </a:avLst>
          </a:prstGeom>
          <a:solidFill>
            <a:srgbClr val="4950BC"/>
          </a:solidFill>
          <a:ln/>
        </p:spPr>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07028" y="3803690"/>
            <a:ext cx="258128" cy="258128"/>
          </a:xfrm>
          <a:prstGeom prst="rect">
            <a:avLst/>
          </a:prstGeom>
        </p:spPr>
      </p:pic>
      <p:sp>
        <p:nvSpPr>
          <p:cNvPr id="13" name="Text 8"/>
          <p:cNvSpPr/>
          <p:nvPr/>
        </p:nvSpPr>
        <p:spPr>
          <a:xfrm>
            <a:off x="10349270" y="4403765"/>
            <a:ext cx="2390180" cy="298847"/>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McVitie's</a:t>
            </a:r>
            <a:endParaRPr lang="en-US" sz="1850" dirty="0"/>
          </a:p>
        </p:txBody>
      </p:sp>
      <p:sp>
        <p:nvSpPr>
          <p:cNvPr id="14" name="Text 9"/>
          <p:cNvSpPr/>
          <p:nvPr/>
        </p:nvSpPr>
        <p:spPr>
          <a:xfrm>
            <a:off x="10349270" y="4813102"/>
            <a:ext cx="3317438" cy="600551"/>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İngiltere'nin en sevilen bisküvi markası</a:t>
            </a:r>
            <a:endParaRPr lang="en-US" sz="1500" dirty="0"/>
          </a:p>
        </p:txBody>
      </p:sp>
      <p:sp>
        <p:nvSpPr>
          <p:cNvPr id="15" name="Shape 10"/>
          <p:cNvSpPr/>
          <p:nvPr/>
        </p:nvSpPr>
        <p:spPr>
          <a:xfrm>
            <a:off x="6251258" y="5796677"/>
            <a:ext cx="7614285" cy="1865114"/>
          </a:xfrm>
          <a:prstGeom prst="roundRect">
            <a:avLst>
              <a:gd name="adj" fmla="val 4306"/>
            </a:avLst>
          </a:prstGeom>
          <a:solidFill>
            <a:srgbClr val="DADBF1"/>
          </a:solidFill>
          <a:ln w="7620">
            <a:solidFill>
              <a:srgbClr val="C0C1D7"/>
            </a:solidFill>
            <a:prstDash val="solid"/>
          </a:ln>
        </p:spPr>
      </p:sp>
      <p:sp>
        <p:nvSpPr>
          <p:cNvPr id="16" name="Shape 11"/>
          <p:cNvSpPr/>
          <p:nvPr/>
        </p:nvSpPr>
        <p:spPr>
          <a:xfrm>
            <a:off x="6450092" y="5995511"/>
            <a:ext cx="573643" cy="573643"/>
          </a:xfrm>
          <a:prstGeom prst="roundRect">
            <a:avLst>
              <a:gd name="adj" fmla="val 15938634"/>
            </a:avLst>
          </a:prstGeom>
          <a:solidFill>
            <a:srgbClr val="4950BC"/>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07850" y="6153269"/>
            <a:ext cx="258128" cy="258128"/>
          </a:xfrm>
          <a:prstGeom prst="rect">
            <a:avLst/>
          </a:prstGeom>
        </p:spPr>
      </p:pic>
      <p:sp>
        <p:nvSpPr>
          <p:cNvPr id="18" name="Text 12"/>
          <p:cNvSpPr/>
          <p:nvPr/>
        </p:nvSpPr>
        <p:spPr>
          <a:xfrm>
            <a:off x="6450092" y="6753344"/>
            <a:ext cx="2390180" cy="298847"/>
          </a:xfrm>
          <a:prstGeom prst="rect">
            <a:avLst/>
          </a:prstGeom>
          <a:noFill/>
          <a:ln/>
        </p:spPr>
        <p:txBody>
          <a:bodyPr wrap="none" lIns="0" tIns="0" rIns="0" bIns="0" rtlCol="0" anchor="t"/>
          <a:lstStyle/>
          <a:p>
            <a:pPr marL="0" indent="0" algn="l">
              <a:lnSpc>
                <a:spcPts val="2350"/>
              </a:lnSpc>
              <a:buNone/>
            </a:pPr>
            <a:r>
              <a:rPr lang="tr-TR" sz="1850" b="1" dirty="0">
                <a:solidFill>
                  <a:srgbClr val="272525"/>
                </a:solidFill>
                <a:latin typeface="Inter Bold" pitchFamily="34" charset="0"/>
                <a:ea typeface="Inter Bold" pitchFamily="34" charset="-122"/>
                <a:cs typeface="Inter Bold" pitchFamily="34" charset="-120"/>
              </a:rPr>
              <a:t>Ü</a:t>
            </a:r>
            <a:r>
              <a:rPr lang="en-US" sz="1850" b="1" dirty="0" err="1">
                <a:solidFill>
                  <a:srgbClr val="272525"/>
                </a:solidFill>
                <a:latin typeface="Inter Bold" pitchFamily="34" charset="0"/>
                <a:ea typeface="Inter Bold" pitchFamily="34" charset="-122"/>
                <a:cs typeface="Inter Bold" pitchFamily="34" charset="-120"/>
              </a:rPr>
              <a:t>lker</a:t>
            </a:r>
            <a:endParaRPr lang="en-US" sz="1850" dirty="0"/>
          </a:p>
        </p:txBody>
      </p:sp>
      <p:sp>
        <p:nvSpPr>
          <p:cNvPr id="19" name="Text 13"/>
          <p:cNvSpPr/>
          <p:nvPr/>
        </p:nvSpPr>
        <p:spPr>
          <a:xfrm>
            <a:off x="6450092" y="7162681"/>
            <a:ext cx="7216616" cy="300276"/>
          </a:xfrm>
          <a:prstGeom prst="rect">
            <a:avLst/>
          </a:prstGeom>
          <a:noFill/>
          <a:ln/>
        </p:spPr>
        <p:txBody>
          <a:bodyPr wrap="non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Türkiye'nin en güçlü gıda markası</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06009"/>
            <a:ext cx="5836206"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2024 Finansal Başarıları</a:t>
            </a:r>
            <a:endParaRPr lang="en-US" sz="3900" dirty="0"/>
          </a:p>
        </p:txBody>
      </p:sp>
      <p:sp>
        <p:nvSpPr>
          <p:cNvPr id="3" name="Text 1"/>
          <p:cNvSpPr/>
          <p:nvPr/>
        </p:nvSpPr>
        <p:spPr>
          <a:xfrm>
            <a:off x="793790" y="2646164"/>
            <a:ext cx="3015615"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490.5B</a:t>
            </a:r>
            <a:endParaRPr lang="en-US" sz="5150" dirty="0"/>
          </a:p>
        </p:txBody>
      </p:sp>
      <p:sp>
        <p:nvSpPr>
          <p:cNvPr id="4" name="Text 2"/>
          <p:cNvSpPr/>
          <p:nvPr/>
        </p:nvSpPr>
        <p:spPr>
          <a:xfrm>
            <a:off x="1061085" y="3549134"/>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TL Toplam Ciro</a:t>
            </a:r>
            <a:endParaRPr lang="en-US" sz="1950" dirty="0"/>
          </a:p>
        </p:txBody>
      </p:sp>
      <p:sp>
        <p:nvSpPr>
          <p:cNvPr id="5" name="Text 3"/>
          <p:cNvSpPr/>
          <p:nvPr/>
        </p:nvSpPr>
        <p:spPr>
          <a:xfrm>
            <a:off x="793790" y="4057650"/>
            <a:ext cx="3015615"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2024 yılı gelir performansı</a:t>
            </a:r>
            <a:endParaRPr lang="en-US" sz="1550" dirty="0"/>
          </a:p>
        </p:txBody>
      </p:sp>
      <p:sp>
        <p:nvSpPr>
          <p:cNvPr id="6" name="Text 4"/>
          <p:cNvSpPr/>
          <p:nvPr/>
        </p:nvSpPr>
        <p:spPr>
          <a:xfrm>
            <a:off x="4057412" y="2646164"/>
            <a:ext cx="3015734"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20%</a:t>
            </a:r>
            <a:endParaRPr lang="en-US" sz="5150" dirty="0"/>
          </a:p>
        </p:txBody>
      </p:sp>
      <p:sp>
        <p:nvSpPr>
          <p:cNvPr id="7" name="Text 5"/>
          <p:cNvSpPr/>
          <p:nvPr/>
        </p:nvSpPr>
        <p:spPr>
          <a:xfrm>
            <a:off x="4324826" y="3549134"/>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Yıllık Büyüme</a:t>
            </a:r>
            <a:endParaRPr lang="en-US" sz="1950" dirty="0"/>
          </a:p>
        </p:txBody>
      </p:sp>
      <p:sp>
        <p:nvSpPr>
          <p:cNvPr id="8" name="Text 6"/>
          <p:cNvSpPr/>
          <p:nvPr/>
        </p:nvSpPr>
        <p:spPr>
          <a:xfrm>
            <a:off x="4057412" y="4057650"/>
            <a:ext cx="3015734"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Önemli bir artış kaydedildi</a:t>
            </a:r>
            <a:endParaRPr lang="en-US" sz="1550" dirty="0"/>
          </a:p>
        </p:txBody>
      </p:sp>
      <p:sp>
        <p:nvSpPr>
          <p:cNvPr id="9" name="Text 7"/>
          <p:cNvSpPr/>
          <p:nvPr/>
        </p:nvSpPr>
        <p:spPr>
          <a:xfrm>
            <a:off x="2425541" y="4871204"/>
            <a:ext cx="3015734"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100+</a:t>
            </a:r>
            <a:endParaRPr lang="en-US" sz="5150" dirty="0"/>
          </a:p>
        </p:txBody>
      </p:sp>
      <p:sp>
        <p:nvSpPr>
          <p:cNvPr id="10" name="Text 8"/>
          <p:cNvSpPr/>
          <p:nvPr/>
        </p:nvSpPr>
        <p:spPr>
          <a:xfrm>
            <a:off x="2692956" y="5774174"/>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Küresel Pazar</a:t>
            </a:r>
            <a:endParaRPr lang="en-US" sz="1950" dirty="0"/>
          </a:p>
        </p:txBody>
      </p:sp>
      <p:sp>
        <p:nvSpPr>
          <p:cNvPr id="11" name="Text 9"/>
          <p:cNvSpPr/>
          <p:nvPr/>
        </p:nvSpPr>
        <p:spPr>
          <a:xfrm>
            <a:off x="2425541" y="6282690"/>
            <a:ext cx="3015734"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Faaliyet gösterilen ülke sayısı</a:t>
            </a:r>
            <a:endParaRPr lang="en-US" sz="1550" dirty="0"/>
          </a:p>
        </p:txBody>
      </p:sp>
      <p:sp>
        <p:nvSpPr>
          <p:cNvPr id="12" name="Text 10"/>
          <p:cNvSpPr/>
          <p:nvPr/>
        </p:nvSpPr>
        <p:spPr>
          <a:xfrm>
            <a:off x="7564874" y="2522101"/>
            <a:ext cx="3384471"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Finansal Performans Analizi</a:t>
            </a:r>
            <a:endParaRPr lang="en-US" sz="1950" dirty="0"/>
          </a:p>
        </p:txBody>
      </p:sp>
      <p:sp>
        <p:nvSpPr>
          <p:cNvPr id="13" name="Text 11"/>
          <p:cNvSpPr/>
          <p:nvPr/>
        </p:nvSpPr>
        <p:spPr>
          <a:xfrm>
            <a:off x="7564874" y="3030617"/>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2024 yılında Yıldız Holding ve pladis, güçlü bir finansal performans sergiledi. 490,5 milyar TL'lik ciro ile şirket, hem Türkiye'de hem de uluslararası pazarlarda ciddi bir büyüme kaydetti.</a:t>
            </a:r>
            <a:endParaRPr lang="en-US" sz="1550" dirty="0"/>
          </a:p>
        </p:txBody>
      </p:sp>
      <p:sp>
        <p:nvSpPr>
          <p:cNvPr id="14" name="Text 12"/>
          <p:cNvSpPr/>
          <p:nvPr/>
        </p:nvSpPr>
        <p:spPr>
          <a:xfrm>
            <a:off x="7564874" y="4161830"/>
            <a:ext cx="6279356" cy="1270159"/>
          </a:xfrm>
          <a:prstGeom prst="rect">
            <a:avLst/>
          </a:prstGeom>
          <a:noFill/>
          <a:ln/>
        </p:spPr>
        <p:txBody>
          <a:bodyPr wrap="square" lIns="0" tIns="0" rIns="0" bIns="0" rtlCol="0" anchor="t"/>
          <a:lstStyle/>
          <a:p>
            <a:pPr>
              <a:lnSpc>
                <a:spcPts val="2500"/>
              </a:lnSpc>
            </a:pPr>
            <a:r>
              <a:rPr lang="en-US" sz="1550" dirty="0">
                <a:solidFill>
                  <a:srgbClr val="272525"/>
                </a:solidFill>
                <a:latin typeface="Inter" pitchFamily="34" charset="0"/>
                <a:ea typeface="Inter" pitchFamily="34" charset="-122"/>
                <a:cs typeface="Inter" pitchFamily="34" charset="-120"/>
              </a:rPr>
              <a:t>Bu başarı, inovasyon yatırımları, marka güçlendirme stratejileri ve operasyonel verimlilik artışı sayesinde elde edildi. Şirket, mali disiplin ve sürdürülebilir büyüme </a:t>
            </a:r>
            <a:r>
              <a:rPr lang="en-US" sz="1550" dirty="0" err="1">
                <a:solidFill>
                  <a:srgbClr val="272525"/>
                </a:solidFill>
                <a:latin typeface="Inter" pitchFamily="34" charset="0"/>
                <a:ea typeface="Inter" pitchFamily="34" charset="-122"/>
                <a:cs typeface="Inter" pitchFamily="34" charset="-120"/>
              </a:rPr>
              <a:t>ilkeleri</a:t>
            </a:r>
            <a:r>
              <a:rPr lang="en-US" sz="1550" dirty="0">
                <a:solidFill>
                  <a:srgbClr val="272525"/>
                </a:solidFill>
                <a:latin typeface="Inter" pitchFamily="34" charset="0"/>
                <a:ea typeface="Inter" pitchFamily="34" charset="-122"/>
                <a:cs typeface="Inter" pitchFamily="34" charset="-120"/>
              </a:rPr>
              <a:t> </a:t>
            </a:r>
            <a:r>
              <a:rPr lang="en-US" sz="1550" dirty="0" err="1">
                <a:solidFill>
                  <a:srgbClr val="272525"/>
                </a:solidFill>
                <a:latin typeface="Inter" pitchFamily="34" charset="0"/>
                <a:ea typeface="Inter" pitchFamily="34" charset="-122"/>
                <a:cs typeface="Inter" pitchFamily="34" charset="-120"/>
              </a:rPr>
              <a:t>çerçevesinde</a:t>
            </a:r>
            <a:r>
              <a:rPr lang="tr-TR" sz="1550" dirty="0">
                <a:solidFill>
                  <a:srgbClr val="272525"/>
                </a:solidFill>
                <a:latin typeface="Inter" pitchFamily="34" charset="0"/>
                <a:ea typeface="Inter" pitchFamily="34" charset="-122"/>
                <a:cs typeface="Inter" pitchFamily="34" charset="-120"/>
              </a:rPr>
              <a:t> </a:t>
            </a:r>
            <a:r>
              <a:rPr lang="tr-TR" sz="1600" b="1" dirty="0">
                <a:solidFill>
                  <a:srgbClr val="272525"/>
                </a:solidFill>
                <a:latin typeface="Inter" pitchFamily="34" charset="0"/>
                <a:ea typeface="Inter" pitchFamily="34" charset="-122"/>
                <a:cs typeface="Inter" pitchFamily="34" charset="-120"/>
              </a:rPr>
              <a:t> </a:t>
            </a:r>
            <a:r>
              <a:rPr lang="tr-TR" sz="1600" dirty="0">
                <a:solidFill>
                  <a:srgbClr val="272525"/>
                </a:solidFill>
                <a:latin typeface="Inter" pitchFamily="34" charset="0"/>
                <a:ea typeface="Inter" pitchFamily="34" charset="-122"/>
                <a:cs typeface="Inter" pitchFamily="34" charset="-120"/>
              </a:rPr>
              <a:t>sağlam</a:t>
            </a:r>
            <a:r>
              <a:rPr lang="tr-TR" sz="1600" b="1" dirty="0">
                <a:solidFill>
                  <a:srgbClr val="272525"/>
                </a:solidFill>
                <a:latin typeface="Inter" pitchFamily="34" charset="0"/>
                <a:ea typeface="Inter" pitchFamily="34" charset="-122"/>
                <a:cs typeface="Inter" pitchFamily="34" charset="-120"/>
              </a:rPr>
              <a:t> </a:t>
            </a:r>
            <a:r>
              <a:rPr lang="en-US" sz="1550" dirty="0" err="1">
                <a:solidFill>
                  <a:srgbClr val="272525"/>
                </a:solidFill>
                <a:latin typeface="Inter" pitchFamily="34" charset="0"/>
                <a:ea typeface="Inter" pitchFamily="34" charset="-122"/>
                <a:cs typeface="Inter" pitchFamily="34" charset="-120"/>
              </a:rPr>
              <a:t>bir</a:t>
            </a:r>
            <a:r>
              <a:rPr lang="en-US" sz="1550" dirty="0">
                <a:solidFill>
                  <a:srgbClr val="272525"/>
                </a:solidFill>
                <a:latin typeface="Inter" pitchFamily="34" charset="0"/>
                <a:ea typeface="Inter" pitchFamily="34" charset="-122"/>
                <a:cs typeface="Inter" pitchFamily="34" charset="-120"/>
              </a:rPr>
              <a:t> finansal yapı oluşturmuştur.</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15534"/>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Murat Ülker'in Liderlik Felsefesi</a:t>
            </a:r>
            <a:endParaRPr lang="en-US" sz="3900" dirty="0"/>
          </a:p>
        </p:txBody>
      </p:sp>
      <p:sp>
        <p:nvSpPr>
          <p:cNvPr id="4" name="Text 1"/>
          <p:cNvSpPr/>
          <p:nvPr/>
        </p:nvSpPr>
        <p:spPr>
          <a:xfrm>
            <a:off x="793790" y="295334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Light" pitchFamily="34" charset="0"/>
                <a:ea typeface="Inter Light" pitchFamily="34" charset="-122"/>
                <a:cs typeface="Inter Light" pitchFamily="34" charset="-120"/>
              </a:rPr>
              <a:t>01</a:t>
            </a:r>
            <a:endParaRPr lang="en-US" sz="1550" dirty="0"/>
          </a:p>
        </p:txBody>
      </p:sp>
      <p:sp>
        <p:nvSpPr>
          <p:cNvPr id="5" name="Shape 2"/>
          <p:cNvSpPr/>
          <p:nvPr/>
        </p:nvSpPr>
        <p:spPr>
          <a:xfrm>
            <a:off x="793790" y="3267670"/>
            <a:ext cx="3679031" cy="22860"/>
          </a:xfrm>
          <a:prstGeom prst="rect">
            <a:avLst/>
          </a:prstGeom>
          <a:solidFill>
            <a:srgbClr val="4950BC"/>
          </a:solidFill>
          <a:ln/>
        </p:spPr>
      </p:sp>
      <p:sp>
        <p:nvSpPr>
          <p:cNvPr id="6" name="Text 3"/>
          <p:cNvSpPr/>
          <p:nvPr/>
        </p:nvSpPr>
        <p:spPr>
          <a:xfrm>
            <a:off x="793790" y="3412569"/>
            <a:ext cx="3679031" cy="620316"/>
          </a:xfrm>
          <a:prstGeom prst="rect">
            <a:avLst/>
          </a:prstGeom>
          <a:noFill/>
          <a:ln/>
        </p:spPr>
        <p:txBody>
          <a:bodyPr wrap="squar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İnovasyon Her Yerden Gelebilir</a:t>
            </a:r>
            <a:endParaRPr lang="en-US" sz="1950" dirty="0"/>
          </a:p>
        </p:txBody>
      </p:sp>
      <p:sp>
        <p:nvSpPr>
          <p:cNvPr id="7" name="Text 4"/>
          <p:cNvSpPr/>
          <p:nvPr/>
        </p:nvSpPr>
        <p:spPr>
          <a:xfrm>
            <a:off x="793790" y="4151947"/>
            <a:ext cx="367903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Hierarşik değil, açık ve kapsayıcı bir inovasyon yaklaşımı benimsenir. Her çalışan fikirlerini paylaşabilir.</a:t>
            </a:r>
            <a:endParaRPr lang="en-US" sz="1550" dirty="0"/>
          </a:p>
        </p:txBody>
      </p:sp>
      <p:sp>
        <p:nvSpPr>
          <p:cNvPr id="8" name="Text 5"/>
          <p:cNvSpPr/>
          <p:nvPr/>
        </p:nvSpPr>
        <p:spPr>
          <a:xfrm>
            <a:off x="4671179" y="295334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Light" pitchFamily="34" charset="0"/>
                <a:ea typeface="Inter Light" pitchFamily="34" charset="-122"/>
                <a:cs typeface="Inter Light" pitchFamily="34" charset="-120"/>
              </a:rPr>
              <a:t>02</a:t>
            </a:r>
            <a:endParaRPr lang="en-US" sz="1550" dirty="0"/>
          </a:p>
        </p:txBody>
      </p:sp>
      <p:sp>
        <p:nvSpPr>
          <p:cNvPr id="9" name="Shape 6"/>
          <p:cNvSpPr/>
          <p:nvPr/>
        </p:nvSpPr>
        <p:spPr>
          <a:xfrm>
            <a:off x="4671179" y="3267670"/>
            <a:ext cx="3679031" cy="22860"/>
          </a:xfrm>
          <a:prstGeom prst="rect">
            <a:avLst/>
          </a:prstGeom>
          <a:solidFill>
            <a:srgbClr val="4950BC"/>
          </a:solidFill>
          <a:ln/>
        </p:spPr>
      </p:sp>
      <p:sp>
        <p:nvSpPr>
          <p:cNvPr id="10" name="Text 7"/>
          <p:cNvSpPr/>
          <p:nvPr/>
        </p:nvSpPr>
        <p:spPr>
          <a:xfrm>
            <a:off x="4671179" y="3412569"/>
            <a:ext cx="3589020"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Kadın İstihdamını Destekleme</a:t>
            </a:r>
            <a:endParaRPr lang="en-US" sz="1950" dirty="0"/>
          </a:p>
        </p:txBody>
      </p:sp>
      <p:sp>
        <p:nvSpPr>
          <p:cNvPr id="11" name="Text 8"/>
          <p:cNvSpPr/>
          <p:nvPr/>
        </p:nvSpPr>
        <p:spPr>
          <a:xfrm>
            <a:off x="4671179" y="3841790"/>
            <a:ext cx="367903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Şirket içinde %50 kadın istihdam hedefiyle çalışılır. Dijitalleşme ve teknoloji alanlarında kadın liderler desteklenir.</a:t>
            </a:r>
            <a:endParaRPr lang="en-US" sz="1550" dirty="0"/>
          </a:p>
        </p:txBody>
      </p:sp>
      <p:sp>
        <p:nvSpPr>
          <p:cNvPr id="12" name="Text 9"/>
          <p:cNvSpPr/>
          <p:nvPr/>
        </p:nvSpPr>
        <p:spPr>
          <a:xfrm>
            <a:off x="793790" y="545913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Light" pitchFamily="34" charset="0"/>
                <a:ea typeface="Inter Light" pitchFamily="34" charset="-122"/>
                <a:cs typeface="Inter Light" pitchFamily="34" charset="-120"/>
              </a:rPr>
              <a:t>03</a:t>
            </a:r>
            <a:endParaRPr lang="en-US" sz="1550" dirty="0"/>
          </a:p>
        </p:txBody>
      </p:sp>
      <p:sp>
        <p:nvSpPr>
          <p:cNvPr id="13" name="Shape 10"/>
          <p:cNvSpPr/>
          <p:nvPr/>
        </p:nvSpPr>
        <p:spPr>
          <a:xfrm>
            <a:off x="793790" y="5773460"/>
            <a:ext cx="7556421" cy="22860"/>
          </a:xfrm>
          <a:prstGeom prst="rect">
            <a:avLst/>
          </a:prstGeom>
          <a:solidFill>
            <a:srgbClr val="4950BC"/>
          </a:solidFill>
          <a:ln/>
        </p:spPr>
      </p:sp>
      <p:sp>
        <p:nvSpPr>
          <p:cNvPr id="14" name="Text 11"/>
          <p:cNvSpPr/>
          <p:nvPr/>
        </p:nvSpPr>
        <p:spPr>
          <a:xfrm>
            <a:off x="793790" y="5918359"/>
            <a:ext cx="38144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Küresel Düşün, Yerel Hareket Et</a:t>
            </a:r>
            <a:endParaRPr lang="en-US" sz="1950" dirty="0"/>
          </a:p>
        </p:txBody>
      </p:sp>
      <p:sp>
        <p:nvSpPr>
          <p:cNvPr id="15" name="Text 12"/>
          <p:cNvSpPr/>
          <p:nvPr/>
        </p:nvSpPr>
        <p:spPr>
          <a:xfrm>
            <a:off x="793790" y="6347579"/>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Her pazarın ihtiyaçlarına özel çözümler geliştirilirken küresel standartlar korunur.</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672590"/>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Stratejik Yaklaşımlar</a:t>
            </a:r>
            <a:endParaRPr lang="en-US" sz="3900" dirty="0"/>
          </a:p>
        </p:txBody>
      </p:sp>
      <p:sp>
        <p:nvSpPr>
          <p:cNvPr id="4" name="Text 1"/>
          <p:cNvSpPr/>
          <p:nvPr/>
        </p:nvSpPr>
        <p:spPr>
          <a:xfrm>
            <a:off x="793790" y="2788682"/>
            <a:ext cx="2169200"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Dijital Dönüşüm</a:t>
            </a:r>
            <a:endParaRPr lang="en-US" sz="1950" dirty="0"/>
          </a:p>
        </p:txBody>
      </p:sp>
      <p:sp>
        <p:nvSpPr>
          <p:cNvPr id="5" name="Text 2"/>
          <p:cNvSpPr/>
          <p:nvPr/>
        </p:nvSpPr>
        <p:spPr>
          <a:xfrm>
            <a:off x="793790" y="3297198"/>
            <a:ext cx="2169200"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E-ticaret ve dijital pazarlama stratejileri hızla geliştiriliyor. Dijital kanallar üzerinden müşteri ilişkileri güçlendiriliyor.</a:t>
            </a:r>
            <a:endParaRPr lang="en-US" sz="1550" dirty="0"/>
          </a:p>
        </p:txBody>
      </p:sp>
      <p:sp>
        <p:nvSpPr>
          <p:cNvPr id="6" name="Text 3"/>
          <p:cNvSpPr/>
          <p:nvPr/>
        </p:nvSpPr>
        <p:spPr>
          <a:xfrm>
            <a:off x="3454718" y="2788682"/>
            <a:ext cx="2169200"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Sürdürülebilirlik</a:t>
            </a:r>
            <a:endParaRPr lang="en-US" sz="1950" dirty="0"/>
          </a:p>
        </p:txBody>
      </p:sp>
      <p:sp>
        <p:nvSpPr>
          <p:cNvPr id="7" name="Text 4"/>
          <p:cNvSpPr/>
          <p:nvPr/>
        </p:nvSpPr>
        <p:spPr>
          <a:xfrm>
            <a:off x="3454718" y="3297198"/>
            <a:ext cx="2169200"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Çevresel etkileri minimize etmek için yeşil enerji yatırımları ve sürdürülebilir ambalaj çözümleri uygulanıyor.</a:t>
            </a:r>
            <a:endParaRPr lang="en-US" sz="1550" dirty="0"/>
          </a:p>
        </p:txBody>
      </p:sp>
      <p:sp>
        <p:nvSpPr>
          <p:cNvPr id="8" name="Text 5"/>
          <p:cNvSpPr/>
          <p:nvPr/>
        </p:nvSpPr>
        <p:spPr>
          <a:xfrm>
            <a:off x="6115645" y="2788682"/>
            <a:ext cx="2249567"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Marka Gücü</a:t>
            </a:r>
            <a:endParaRPr lang="en-US" sz="1950" dirty="0"/>
          </a:p>
        </p:txBody>
      </p:sp>
      <p:sp>
        <p:nvSpPr>
          <p:cNvPr id="9" name="Text 6"/>
          <p:cNvSpPr/>
          <p:nvPr/>
        </p:nvSpPr>
        <p:spPr>
          <a:xfrm>
            <a:off x="6115645" y="3297198"/>
            <a:ext cx="2249567"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Godiva ve McVitie's gibi premium markalar </a:t>
            </a:r>
            <a:r>
              <a:rPr lang="en-US" sz="1550" dirty="0" err="1">
                <a:solidFill>
                  <a:srgbClr val="272525"/>
                </a:solidFill>
                <a:latin typeface="Inter" pitchFamily="34" charset="0"/>
                <a:ea typeface="Inter" pitchFamily="34" charset="-122"/>
                <a:cs typeface="Inter" pitchFamily="34" charset="-120"/>
              </a:rPr>
              <a:t>ile</a:t>
            </a:r>
            <a:r>
              <a:rPr lang="en-US" sz="1550" dirty="0">
                <a:solidFill>
                  <a:srgbClr val="272525"/>
                </a:solidFill>
                <a:latin typeface="Inter" pitchFamily="34" charset="0"/>
                <a:ea typeface="Inter" pitchFamily="34" charset="-122"/>
                <a:cs typeface="Inter" pitchFamily="34" charset="-120"/>
              </a:rPr>
              <a:t> </a:t>
            </a:r>
            <a:r>
              <a:rPr lang="tr-TR" sz="1550" dirty="0">
                <a:solidFill>
                  <a:srgbClr val="272525"/>
                </a:solidFill>
                <a:latin typeface="Inter" pitchFamily="34" charset="0"/>
                <a:ea typeface="Inter" pitchFamily="34" charset="-122"/>
                <a:cs typeface="Inter" pitchFamily="34" charset="-120"/>
              </a:rPr>
              <a:t>Ü</a:t>
            </a:r>
            <a:r>
              <a:rPr lang="en-US" sz="1550" dirty="0" err="1">
                <a:solidFill>
                  <a:srgbClr val="272525"/>
                </a:solidFill>
                <a:latin typeface="Inter" pitchFamily="34" charset="0"/>
                <a:ea typeface="Inter" pitchFamily="34" charset="-122"/>
                <a:cs typeface="Inter" pitchFamily="34" charset="-120"/>
              </a:rPr>
              <a:t>lker</a:t>
            </a:r>
            <a:r>
              <a:rPr lang="en-US" sz="1550" dirty="0">
                <a:solidFill>
                  <a:srgbClr val="272525"/>
                </a:solidFill>
                <a:latin typeface="Inter" pitchFamily="34" charset="0"/>
                <a:ea typeface="Inter" pitchFamily="34" charset="-122"/>
                <a:cs typeface="Inter" pitchFamily="34" charset="-120"/>
              </a:rPr>
              <a:t> gibi güçlü yerli markalar birlikte güçlendiriliyor.</a:t>
            </a:r>
            <a:endParaRPr lang="en-US" sz="1550" dirty="0"/>
          </a:p>
        </p:txBody>
      </p:sp>
      <p:sp>
        <p:nvSpPr>
          <p:cNvPr id="10" name="Text 7"/>
          <p:cNvSpPr/>
          <p:nvPr/>
        </p:nvSpPr>
        <p:spPr>
          <a:xfrm>
            <a:off x="793790" y="5604272"/>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Bu stratejiler, şirketin uzun vadeli rekabet avantajını güçlendirmeyi ve pazar payını artırmayı hedefler. Operasyonel verimlilik ve müşteri odaklılık, tüm stratejilerin temelini oluşturur.</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561737"/>
            <a:ext cx="872692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SWOT Analizi: Güçlü ve Zayıf Yönler</a:t>
            </a:r>
            <a:endParaRPr lang="en-US" sz="3900" dirty="0"/>
          </a:p>
        </p:txBody>
      </p:sp>
      <p:sp>
        <p:nvSpPr>
          <p:cNvPr id="3" name="Shape 1"/>
          <p:cNvSpPr/>
          <p:nvPr/>
        </p:nvSpPr>
        <p:spPr>
          <a:xfrm>
            <a:off x="793790" y="1578650"/>
            <a:ext cx="6422231" cy="2945368"/>
          </a:xfrm>
          <a:prstGeom prst="roundRect">
            <a:avLst>
              <a:gd name="adj" fmla="val 2830"/>
            </a:avLst>
          </a:prstGeom>
          <a:solidFill>
            <a:srgbClr val="FFFFFF"/>
          </a:solidFill>
          <a:ln w="22860">
            <a:solidFill>
              <a:srgbClr val="C0C1D7"/>
            </a:solidFill>
            <a:prstDash val="solid"/>
          </a:ln>
        </p:spPr>
      </p:sp>
      <p:sp>
        <p:nvSpPr>
          <p:cNvPr id="4" name="Shape 2"/>
          <p:cNvSpPr/>
          <p:nvPr/>
        </p:nvSpPr>
        <p:spPr>
          <a:xfrm>
            <a:off x="816650" y="1601510"/>
            <a:ext cx="6376511" cy="595313"/>
          </a:xfrm>
          <a:prstGeom prst="roundRect">
            <a:avLst>
              <a:gd name="adj" fmla="val 9395"/>
            </a:avLst>
          </a:prstGeom>
          <a:solidFill>
            <a:srgbClr val="DADBF1"/>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56077" y="1746409"/>
            <a:ext cx="297656" cy="297656"/>
          </a:xfrm>
          <a:prstGeom prst="rect">
            <a:avLst/>
          </a:prstGeom>
        </p:spPr>
      </p:pic>
      <p:sp>
        <p:nvSpPr>
          <p:cNvPr id="6" name="Text 3"/>
          <p:cNvSpPr/>
          <p:nvPr/>
        </p:nvSpPr>
        <p:spPr>
          <a:xfrm>
            <a:off x="1015008" y="239518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Güçlü Yönler</a:t>
            </a:r>
            <a:endParaRPr lang="en-US" sz="1950" dirty="0"/>
          </a:p>
        </p:txBody>
      </p:sp>
      <p:sp>
        <p:nvSpPr>
          <p:cNvPr id="7" name="Text 4"/>
          <p:cNvSpPr/>
          <p:nvPr/>
        </p:nvSpPr>
        <p:spPr>
          <a:xfrm>
            <a:off x="1015008" y="2824401"/>
            <a:ext cx="5979795"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Dünyanın en büyük 2. bisküvi şirketi konumu</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70.000'den fazla deneyimli çalışan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Küresel pazarlarda güçlü marka portföyü</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İleri teknoloji üretim tesisleri</a:t>
            </a:r>
            <a:endParaRPr lang="en-US" sz="1550" dirty="0"/>
          </a:p>
        </p:txBody>
      </p:sp>
      <p:sp>
        <p:nvSpPr>
          <p:cNvPr id="8" name="Shape 5"/>
          <p:cNvSpPr/>
          <p:nvPr/>
        </p:nvSpPr>
        <p:spPr>
          <a:xfrm>
            <a:off x="7414379" y="1578650"/>
            <a:ext cx="6422231" cy="2945368"/>
          </a:xfrm>
          <a:prstGeom prst="roundRect">
            <a:avLst>
              <a:gd name="adj" fmla="val 2830"/>
            </a:avLst>
          </a:prstGeom>
          <a:solidFill>
            <a:srgbClr val="FFFFFF"/>
          </a:solidFill>
          <a:ln w="22860">
            <a:solidFill>
              <a:srgbClr val="C0C1D7"/>
            </a:solidFill>
            <a:prstDash val="solid"/>
          </a:ln>
        </p:spPr>
      </p:sp>
      <p:sp>
        <p:nvSpPr>
          <p:cNvPr id="9" name="Shape 6"/>
          <p:cNvSpPr/>
          <p:nvPr/>
        </p:nvSpPr>
        <p:spPr>
          <a:xfrm>
            <a:off x="7437239" y="1601510"/>
            <a:ext cx="6376511" cy="595313"/>
          </a:xfrm>
          <a:prstGeom prst="roundRect">
            <a:avLst>
              <a:gd name="adj" fmla="val 9395"/>
            </a:avLst>
          </a:prstGeom>
          <a:solidFill>
            <a:srgbClr val="DADBF1"/>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6667" y="1746409"/>
            <a:ext cx="297656" cy="297656"/>
          </a:xfrm>
          <a:prstGeom prst="rect">
            <a:avLst/>
          </a:prstGeom>
        </p:spPr>
      </p:pic>
      <p:sp>
        <p:nvSpPr>
          <p:cNvPr id="11" name="Text 7"/>
          <p:cNvSpPr/>
          <p:nvPr/>
        </p:nvSpPr>
        <p:spPr>
          <a:xfrm>
            <a:off x="7635597" y="239518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Zayıf Yönler</a:t>
            </a:r>
            <a:endParaRPr lang="en-US" sz="1950" dirty="0"/>
          </a:p>
        </p:txBody>
      </p:sp>
      <p:sp>
        <p:nvSpPr>
          <p:cNvPr id="12" name="Text 8"/>
          <p:cNvSpPr/>
          <p:nvPr/>
        </p:nvSpPr>
        <p:spPr>
          <a:xfrm>
            <a:off x="7635597" y="2824401"/>
            <a:ext cx="5979795" cy="109144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Bazı bölgelerde marka tanınabilirliği sınırlı</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Ürün yelpazesinde bazı segmentlerde eksiklik</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Daha fazla dijital dönüşüm gereksinimi</a:t>
            </a:r>
            <a:endParaRPr lang="en-US" sz="1550" dirty="0"/>
          </a:p>
        </p:txBody>
      </p:sp>
      <p:sp>
        <p:nvSpPr>
          <p:cNvPr id="13" name="Shape 9"/>
          <p:cNvSpPr/>
          <p:nvPr/>
        </p:nvSpPr>
        <p:spPr>
          <a:xfrm>
            <a:off x="793790" y="4722376"/>
            <a:ext cx="6422231" cy="2945368"/>
          </a:xfrm>
          <a:prstGeom prst="roundRect">
            <a:avLst>
              <a:gd name="adj" fmla="val 2830"/>
            </a:avLst>
          </a:prstGeom>
          <a:solidFill>
            <a:srgbClr val="FFFFFF"/>
          </a:solidFill>
          <a:ln w="22860">
            <a:solidFill>
              <a:srgbClr val="C0C1D7"/>
            </a:solidFill>
            <a:prstDash val="solid"/>
          </a:ln>
        </p:spPr>
      </p:sp>
      <p:sp>
        <p:nvSpPr>
          <p:cNvPr id="14" name="Shape 10"/>
          <p:cNvSpPr/>
          <p:nvPr/>
        </p:nvSpPr>
        <p:spPr>
          <a:xfrm>
            <a:off x="816650" y="4745236"/>
            <a:ext cx="6376511" cy="595313"/>
          </a:xfrm>
          <a:prstGeom prst="roundRect">
            <a:avLst>
              <a:gd name="adj" fmla="val 9395"/>
            </a:avLst>
          </a:prstGeom>
          <a:solidFill>
            <a:srgbClr val="DADBF1"/>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56077" y="4890135"/>
            <a:ext cx="297656" cy="297656"/>
          </a:xfrm>
          <a:prstGeom prst="rect">
            <a:avLst/>
          </a:prstGeom>
        </p:spPr>
      </p:pic>
      <p:sp>
        <p:nvSpPr>
          <p:cNvPr id="16" name="Text 11"/>
          <p:cNvSpPr/>
          <p:nvPr/>
        </p:nvSpPr>
        <p:spPr>
          <a:xfrm>
            <a:off x="1015008" y="553890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Fırsatlar</a:t>
            </a:r>
            <a:endParaRPr lang="en-US" sz="1950" dirty="0"/>
          </a:p>
        </p:txBody>
      </p:sp>
      <p:sp>
        <p:nvSpPr>
          <p:cNvPr id="17" name="Text 12"/>
          <p:cNvSpPr/>
          <p:nvPr/>
        </p:nvSpPr>
        <p:spPr>
          <a:xfrm>
            <a:off x="1015008" y="5968127"/>
            <a:ext cx="5979795"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Dijitalleşme ve e-ticarette büyüme</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Asya ve Afrika pazarlarında ekspansiyon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Sağlıklı gıda trendine uyum</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Yenilikçi ürün geliştirme</a:t>
            </a:r>
            <a:endParaRPr lang="en-US" sz="1550" dirty="0"/>
          </a:p>
        </p:txBody>
      </p:sp>
      <p:sp>
        <p:nvSpPr>
          <p:cNvPr id="18" name="Shape 13"/>
          <p:cNvSpPr/>
          <p:nvPr/>
        </p:nvSpPr>
        <p:spPr>
          <a:xfrm>
            <a:off x="7414379" y="4722376"/>
            <a:ext cx="6422231" cy="2945368"/>
          </a:xfrm>
          <a:prstGeom prst="roundRect">
            <a:avLst>
              <a:gd name="adj" fmla="val 2830"/>
            </a:avLst>
          </a:prstGeom>
          <a:solidFill>
            <a:srgbClr val="FFFFFF"/>
          </a:solidFill>
          <a:ln w="22860">
            <a:solidFill>
              <a:srgbClr val="C0C1D7"/>
            </a:solidFill>
            <a:prstDash val="solid"/>
          </a:ln>
        </p:spPr>
      </p:sp>
      <p:sp>
        <p:nvSpPr>
          <p:cNvPr id="19" name="Shape 14"/>
          <p:cNvSpPr/>
          <p:nvPr/>
        </p:nvSpPr>
        <p:spPr>
          <a:xfrm>
            <a:off x="7437239" y="4745236"/>
            <a:ext cx="6376511" cy="595313"/>
          </a:xfrm>
          <a:prstGeom prst="roundRect">
            <a:avLst>
              <a:gd name="adj" fmla="val 9395"/>
            </a:avLst>
          </a:prstGeom>
          <a:solidFill>
            <a:srgbClr val="DADBF1"/>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76667" y="4890135"/>
            <a:ext cx="297656" cy="297656"/>
          </a:xfrm>
          <a:prstGeom prst="rect">
            <a:avLst/>
          </a:prstGeom>
        </p:spPr>
      </p:pic>
      <p:sp>
        <p:nvSpPr>
          <p:cNvPr id="21" name="Text 15"/>
          <p:cNvSpPr/>
          <p:nvPr/>
        </p:nvSpPr>
        <p:spPr>
          <a:xfrm>
            <a:off x="7635597" y="553890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Tehditler</a:t>
            </a:r>
            <a:endParaRPr lang="en-US" sz="1950" dirty="0"/>
          </a:p>
        </p:txBody>
      </p:sp>
      <p:sp>
        <p:nvSpPr>
          <p:cNvPr id="22" name="Text 16"/>
          <p:cNvSpPr/>
          <p:nvPr/>
        </p:nvSpPr>
        <p:spPr>
          <a:xfrm>
            <a:off x="7635597" y="5968127"/>
            <a:ext cx="5979795"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Hammadde maliyetlerindeki dalgalanmalar</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Yoğun küresel rekabet</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Ekonomik istikrarsızlık</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Değişen tüketici tercihleri</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64350"/>
            <a:ext cx="675382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Kariyer Gelişimi İçin Öğütler</a:t>
            </a:r>
            <a:endParaRPr lang="en-US" sz="3900" dirty="0"/>
          </a:p>
        </p:txBody>
      </p:sp>
      <p:pic>
        <p:nvPicPr>
          <p:cNvPr id="4" name="Image 1" descr="preencoded.png"/>
          <p:cNvPicPr>
            <a:picLocks noChangeAspect="1"/>
          </p:cNvPicPr>
          <p:nvPr/>
        </p:nvPicPr>
        <p:blipFill>
          <a:blip r:embed="rId4"/>
          <a:stretch>
            <a:fillRect/>
          </a:stretch>
        </p:blipFill>
        <p:spPr>
          <a:xfrm>
            <a:off x="793790" y="2382083"/>
            <a:ext cx="992267" cy="1461016"/>
          </a:xfrm>
          <a:prstGeom prst="rect">
            <a:avLst/>
          </a:prstGeom>
        </p:spPr>
      </p:pic>
      <p:sp>
        <p:nvSpPr>
          <p:cNvPr id="5" name="Text 1"/>
          <p:cNvSpPr/>
          <p:nvPr/>
        </p:nvSpPr>
        <p:spPr>
          <a:xfrm>
            <a:off x="1984415" y="258044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Sürekli Öğrenme</a:t>
            </a:r>
            <a:endParaRPr lang="en-US" sz="1950" dirty="0"/>
          </a:p>
        </p:txBody>
      </p:sp>
      <p:sp>
        <p:nvSpPr>
          <p:cNvPr id="6" name="Text 2"/>
          <p:cNvSpPr/>
          <p:nvPr/>
        </p:nvSpPr>
        <p:spPr>
          <a:xfrm>
            <a:off x="1984415" y="3009662"/>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Murat Ülker'in felsefesi: "İnovasyon her yerden gelebilir" prensibi, sürekli gelişimi gerektirir.</a:t>
            </a:r>
            <a:endParaRPr lang="en-US" sz="1550" dirty="0"/>
          </a:p>
        </p:txBody>
      </p:sp>
      <p:pic>
        <p:nvPicPr>
          <p:cNvPr id="7" name="Image 2" descr="preencoded.png"/>
          <p:cNvPicPr>
            <a:picLocks noChangeAspect="1"/>
          </p:cNvPicPr>
          <p:nvPr/>
        </p:nvPicPr>
        <p:blipFill>
          <a:blip r:embed="rId5"/>
          <a:stretch>
            <a:fillRect/>
          </a:stretch>
        </p:blipFill>
        <p:spPr>
          <a:xfrm>
            <a:off x="793790" y="3843099"/>
            <a:ext cx="992267" cy="1461016"/>
          </a:xfrm>
          <a:prstGeom prst="rect">
            <a:avLst/>
          </a:prstGeom>
        </p:spPr>
      </p:pic>
      <p:sp>
        <p:nvSpPr>
          <p:cNvPr id="8" name="Text 3"/>
          <p:cNvSpPr/>
          <p:nvPr/>
        </p:nvSpPr>
        <p:spPr>
          <a:xfrm>
            <a:off x="1984415" y="404145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Kapsayıcılık</a:t>
            </a:r>
            <a:endParaRPr lang="en-US" sz="1950" dirty="0"/>
          </a:p>
        </p:txBody>
      </p:sp>
      <p:sp>
        <p:nvSpPr>
          <p:cNvPr id="9" name="Text 4"/>
          <p:cNvSpPr/>
          <p:nvPr/>
        </p:nvSpPr>
        <p:spPr>
          <a:xfrm>
            <a:off x="1984415" y="4470678"/>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Farklı perspektifler ve deneyimler, daha güçlü çözümler üretir. Kadın istihdamını destekleme örneği.</a:t>
            </a:r>
            <a:endParaRPr lang="en-US" sz="1550" dirty="0"/>
          </a:p>
        </p:txBody>
      </p:sp>
      <p:pic>
        <p:nvPicPr>
          <p:cNvPr id="10" name="Image 3" descr="preencoded.png"/>
          <p:cNvPicPr>
            <a:picLocks noChangeAspect="1"/>
          </p:cNvPicPr>
          <p:nvPr/>
        </p:nvPicPr>
        <p:blipFill>
          <a:blip r:embed="rId6"/>
          <a:stretch>
            <a:fillRect/>
          </a:stretch>
        </p:blipFill>
        <p:spPr>
          <a:xfrm>
            <a:off x="793790" y="5304115"/>
            <a:ext cx="992267" cy="1461016"/>
          </a:xfrm>
          <a:prstGeom prst="rect">
            <a:avLst/>
          </a:prstGeom>
        </p:spPr>
      </p:pic>
      <p:sp>
        <p:nvSpPr>
          <p:cNvPr id="11" name="Text 5"/>
          <p:cNvSpPr/>
          <p:nvPr/>
        </p:nvSpPr>
        <p:spPr>
          <a:xfrm>
            <a:off x="1984415" y="550247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Küresel Bakış</a:t>
            </a:r>
            <a:endParaRPr lang="en-US" sz="1950" dirty="0"/>
          </a:p>
        </p:txBody>
      </p:sp>
      <p:sp>
        <p:nvSpPr>
          <p:cNvPr id="12" name="Text 6"/>
          <p:cNvSpPr/>
          <p:nvPr/>
        </p:nvSpPr>
        <p:spPr>
          <a:xfrm>
            <a:off x="1984415" y="5931694"/>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Yerel kökleri korurken küresel standartlarla düşünmek, rekabet avantajı sağlar.</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54311"/>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Öğrenilen Dersler ve Uygulamalar</a:t>
            </a:r>
            <a:endParaRPr lang="en-US" sz="3900" dirty="0"/>
          </a:p>
        </p:txBody>
      </p:sp>
      <p:sp>
        <p:nvSpPr>
          <p:cNvPr id="4" name="Text 1"/>
          <p:cNvSpPr/>
          <p:nvPr/>
        </p:nvSpPr>
        <p:spPr>
          <a:xfrm>
            <a:off x="6280190" y="289048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Küresel Büyüme İçin</a:t>
            </a:r>
            <a:endParaRPr lang="en-US" sz="1950" dirty="0"/>
          </a:p>
        </p:txBody>
      </p:sp>
      <p:sp>
        <p:nvSpPr>
          <p:cNvPr id="5" name="Text 2"/>
          <p:cNvSpPr/>
          <p:nvPr/>
        </p:nvSpPr>
        <p:spPr>
          <a:xfrm>
            <a:off x="6280190" y="3398996"/>
            <a:ext cx="3536156" cy="2431018"/>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Her pazar için özelleştirilmiş stratejiler geliştirin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Marka portföyünü çeşitlendirin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Operasyonel verimlilikten ödün vermeyin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İnovasyon için sürekli yatırım yapın</a:t>
            </a:r>
            <a:endParaRPr lang="en-US" sz="1550" dirty="0"/>
          </a:p>
        </p:txBody>
      </p:sp>
      <p:sp>
        <p:nvSpPr>
          <p:cNvPr id="6" name="Text 3"/>
          <p:cNvSpPr/>
          <p:nvPr/>
        </p:nvSpPr>
        <p:spPr>
          <a:xfrm>
            <a:off x="10308074" y="289048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Kariyeriniz İçin</a:t>
            </a:r>
            <a:endParaRPr lang="en-US" sz="1950" dirty="0"/>
          </a:p>
        </p:txBody>
      </p:sp>
      <p:sp>
        <p:nvSpPr>
          <p:cNvPr id="7" name="Text 4"/>
          <p:cNvSpPr/>
          <p:nvPr/>
        </p:nvSpPr>
        <p:spPr>
          <a:xfrm>
            <a:off x="10308074" y="3398996"/>
            <a:ext cx="3536156"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Kadın istihdamını destekleyin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Dijital becerilerinizi geliştirin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Çok uluslu deneyim kazanın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Şeffaf ve açık iletişim kurun</a:t>
            </a:r>
            <a:endParaRPr lang="en-US" sz="1550" dirty="0"/>
          </a:p>
        </p:txBody>
      </p:sp>
      <p:sp>
        <p:nvSpPr>
          <p:cNvPr id="8" name="Text 5"/>
          <p:cNvSpPr/>
          <p:nvPr/>
        </p:nvSpPr>
        <p:spPr>
          <a:xfrm>
            <a:off x="6280190" y="6122670"/>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Yıldız Holding ve pladis'in başarısı, stratejik vizyon, disiplinli uygulama ve sürekli iyileşme kültürünün bir sonucudur. Bu prensipler, hem kurumsal hem de bireysel başarı için uygulanabilir.</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45808"/>
            <a:ext cx="525422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Sonuç: Liderliğin Yolu</a:t>
            </a:r>
            <a:endParaRPr lang="en-US" sz="3900" dirty="0"/>
          </a:p>
        </p:txBody>
      </p:sp>
      <p:sp>
        <p:nvSpPr>
          <p:cNvPr id="4" name="Shape 1"/>
          <p:cNvSpPr/>
          <p:nvPr/>
        </p:nvSpPr>
        <p:spPr>
          <a:xfrm>
            <a:off x="793790" y="1663541"/>
            <a:ext cx="3679031" cy="1476256"/>
          </a:xfrm>
          <a:prstGeom prst="roundRect">
            <a:avLst>
              <a:gd name="adj" fmla="val 5647"/>
            </a:avLst>
          </a:prstGeom>
          <a:solidFill>
            <a:srgbClr val="DADBF1"/>
          </a:solidFill>
          <a:ln w="7620">
            <a:solidFill>
              <a:srgbClr val="C0C1D7"/>
            </a:solidFill>
            <a:prstDash val="solid"/>
          </a:ln>
        </p:spPr>
      </p:sp>
      <p:sp>
        <p:nvSpPr>
          <p:cNvPr id="5" name="Text 2"/>
          <p:cNvSpPr/>
          <p:nvPr/>
        </p:nvSpPr>
        <p:spPr>
          <a:xfrm>
            <a:off x="999768" y="186951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Vizyon</a:t>
            </a:r>
            <a:endParaRPr lang="en-US" sz="1950" dirty="0"/>
          </a:p>
        </p:txBody>
      </p:sp>
      <p:sp>
        <p:nvSpPr>
          <p:cNvPr id="6" name="Text 3"/>
          <p:cNvSpPr/>
          <p:nvPr/>
        </p:nvSpPr>
        <p:spPr>
          <a:xfrm>
            <a:off x="999768" y="2298740"/>
            <a:ext cx="326707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Küresel bir hedef ve yerel köklere sahip olun</a:t>
            </a:r>
            <a:endParaRPr lang="en-US" sz="1550" dirty="0"/>
          </a:p>
        </p:txBody>
      </p:sp>
      <p:sp>
        <p:nvSpPr>
          <p:cNvPr id="7" name="Shape 4"/>
          <p:cNvSpPr/>
          <p:nvPr/>
        </p:nvSpPr>
        <p:spPr>
          <a:xfrm>
            <a:off x="4671179" y="1663541"/>
            <a:ext cx="3679031" cy="1476256"/>
          </a:xfrm>
          <a:prstGeom prst="roundRect">
            <a:avLst>
              <a:gd name="adj" fmla="val 5647"/>
            </a:avLst>
          </a:prstGeom>
          <a:solidFill>
            <a:srgbClr val="DADBF1"/>
          </a:solidFill>
          <a:ln w="7620">
            <a:solidFill>
              <a:srgbClr val="C0C1D7"/>
            </a:solidFill>
            <a:prstDash val="solid"/>
          </a:ln>
        </p:spPr>
      </p:sp>
      <p:sp>
        <p:nvSpPr>
          <p:cNvPr id="8" name="Text 5"/>
          <p:cNvSpPr/>
          <p:nvPr/>
        </p:nvSpPr>
        <p:spPr>
          <a:xfrm>
            <a:off x="4877157" y="186951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İnovasyon</a:t>
            </a:r>
            <a:endParaRPr lang="en-US" sz="1950" dirty="0"/>
          </a:p>
        </p:txBody>
      </p:sp>
      <p:sp>
        <p:nvSpPr>
          <p:cNvPr id="9" name="Text 6"/>
          <p:cNvSpPr/>
          <p:nvPr/>
        </p:nvSpPr>
        <p:spPr>
          <a:xfrm>
            <a:off x="4877157" y="2298740"/>
            <a:ext cx="326707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Her yerden gelen fikirleri destekleyin</a:t>
            </a:r>
            <a:endParaRPr lang="en-US" sz="1550" dirty="0"/>
          </a:p>
        </p:txBody>
      </p:sp>
      <p:sp>
        <p:nvSpPr>
          <p:cNvPr id="10" name="Shape 7"/>
          <p:cNvSpPr/>
          <p:nvPr/>
        </p:nvSpPr>
        <p:spPr>
          <a:xfrm>
            <a:off x="793790" y="3338155"/>
            <a:ext cx="7556421" cy="1158716"/>
          </a:xfrm>
          <a:prstGeom prst="roundRect">
            <a:avLst>
              <a:gd name="adj" fmla="val 7194"/>
            </a:avLst>
          </a:prstGeom>
          <a:solidFill>
            <a:srgbClr val="DADBF1"/>
          </a:solidFill>
          <a:ln w="7620">
            <a:solidFill>
              <a:srgbClr val="C0C1D7"/>
            </a:solidFill>
            <a:prstDash val="solid"/>
          </a:ln>
        </p:spPr>
      </p:sp>
      <p:sp>
        <p:nvSpPr>
          <p:cNvPr id="11" name="Text 8"/>
          <p:cNvSpPr/>
          <p:nvPr/>
        </p:nvSpPr>
        <p:spPr>
          <a:xfrm>
            <a:off x="999768" y="354413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Sürdürülebilirlik</a:t>
            </a:r>
            <a:endParaRPr lang="en-US" sz="1950" dirty="0"/>
          </a:p>
        </p:txBody>
      </p:sp>
      <p:sp>
        <p:nvSpPr>
          <p:cNvPr id="12" name="Text 9"/>
          <p:cNvSpPr/>
          <p:nvPr/>
        </p:nvSpPr>
        <p:spPr>
          <a:xfrm>
            <a:off x="999768" y="3973354"/>
            <a:ext cx="7144464"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Dengeli büyüme ve mali disiplin uygulayın</a:t>
            </a:r>
            <a:endParaRPr lang="en-US" sz="1550" dirty="0"/>
          </a:p>
        </p:txBody>
      </p:sp>
      <p:sp>
        <p:nvSpPr>
          <p:cNvPr id="13" name="Text 10"/>
          <p:cNvSpPr/>
          <p:nvPr/>
        </p:nvSpPr>
        <p:spPr>
          <a:xfrm>
            <a:off x="793790" y="4720114"/>
            <a:ext cx="755642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Murat Ülker'in liderliği altında Yıldız Holding ve pladis, 490,5 milyar TL ciro ile Türkiye'nin en güçlü şirketlerinden biri haline geldi. Bu başarı hikayesi, stratejik düşünme, inovasyon ve kapsayıcı liderlik ilkelerinin gücünü gösteriyor. %50 kadın istihdam hedefi gibi sosyal sorumluluk projeleri, iş dünyasında yeni standartlar belirliyor.</a:t>
            </a:r>
            <a:endParaRPr lang="en-US" sz="1550" dirty="0"/>
          </a:p>
        </p:txBody>
      </p:sp>
      <p:sp>
        <p:nvSpPr>
          <p:cNvPr id="14" name="Text 11"/>
          <p:cNvSpPr/>
          <p:nvPr/>
        </p:nvSpPr>
        <p:spPr>
          <a:xfrm>
            <a:off x="793790" y="6531054"/>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Gelecek için, dijitalleşme ve sürdürülebilirlik alanlarında daha fazla yatırım yapmak, yeni pazarlara açılma fırsatlarını değerlendirmek ve inovasyon kültürünü güçlendirmek öncelikli hedefler olmaya devam edecektir.</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Çevrimiçi Medya 1" title="BİR MURAT ÜLKER HİKAYESİ! / Türkiye'den Avrupa'ya uzanan bir başarı hikayesi">
            <a:hlinkClick r:id="" action="ppaction://media"/>
            <a:extLst>
              <a:ext uri="{FF2B5EF4-FFF2-40B4-BE49-F238E27FC236}">
                <a16:creationId xmlns:a16="http://schemas.microsoft.com/office/drawing/2014/main" id="{39009EB9-2F15-136F-20BE-7E0C44DF3A41}"/>
              </a:ext>
            </a:extLst>
          </p:cNvPr>
          <p:cNvPicPr>
            <a:picLocks noRot="1" noChangeAspect="1"/>
          </p:cNvPicPr>
          <p:nvPr>
            <a:videoFile r:link="rId1"/>
          </p:nvPr>
        </p:nvPicPr>
        <p:blipFill>
          <a:blip r:embed="rId3"/>
          <a:stretch>
            <a:fillRect/>
          </a:stretch>
        </p:blipFill>
        <p:spPr>
          <a:xfrm>
            <a:off x="1219200" y="535259"/>
            <a:ext cx="12436146" cy="7021241"/>
          </a:xfrm>
          <a:prstGeom prst="rect">
            <a:avLst/>
          </a:prstGeom>
        </p:spPr>
      </p:pic>
    </p:spTree>
    <p:extLst>
      <p:ext uri="{BB962C8B-B14F-4D97-AF65-F5344CB8AC3E}">
        <p14:creationId xmlns:p14="http://schemas.microsoft.com/office/powerpoint/2010/main" val="229636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7206B7-B8F2-C0B9-A445-B93F2C35B044}"/>
              </a:ext>
            </a:extLst>
          </p:cNvPr>
          <p:cNvSpPr>
            <a:spLocks noChangeArrowheads="1"/>
          </p:cNvSpPr>
          <p:nvPr/>
        </p:nvSpPr>
        <p:spPr bwMode="auto">
          <a:xfrm>
            <a:off x="323385" y="167268"/>
            <a:ext cx="12054469" cy="6653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1" i="0" u="none" strike="noStrike" cap="none" normalizeH="0" baseline="0" dirty="0">
                <a:ln>
                  <a:noFill/>
                </a:ln>
                <a:solidFill>
                  <a:schemeClr val="tx1"/>
                </a:solidFill>
                <a:effectLst/>
                <a:latin typeface="Arial" panose="020B0604020202020204" pitchFamily="34" charset="0"/>
              </a:rPr>
              <a:t>Kaynakça ve Referanslar</a:t>
            </a:r>
            <a:endParaRPr kumimoji="0" lang="tr-TR" altLang="tr-TR"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latin typeface="Arial" panose="020B0604020202020204" pitchFamily="34" charset="0"/>
              </a:rPr>
              <a:t>• Yıldız Holding – Resmi Web Sitesi</a:t>
            </a:r>
            <a:br>
              <a:rPr kumimoji="0" lang="tr-TR" altLang="tr-TR" sz="2800" b="0" i="0" u="none" strike="noStrike" cap="none" normalizeH="0" baseline="0" dirty="0">
                <a:ln>
                  <a:noFill/>
                </a:ln>
                <a:solidFill>
                  <a:schemeClr val="tx1"/>
                </a:solidFill>
                <a:effectLst/>
                <a:latin typeface="Arial" panose="020B0604020202020204" pitchFamily="34" charset="0"/>
              </a:rPr>
            </a:br>
            <a:r>
              <a:rPr kumimoji="0" lang="tr-TR" altLang="tr-TR" sz="2800" b="0" i="0" u="none" strike="noStrike" cap="none" normalizeH="0" baseline="0" dirty="0">
                <a:ln>
                  <a:noFill/>
                </a:ln>
                <a:solidFill>
                  <a:schemeClr val="tx1"/>
                </a:solidFill>
                <a:effectLst/>
                <a:latin typeface="Arial" panose="020B0604020202020204" pitchFamily="34" charset="0"/>
                <a:hlinkClick r:id="rId2"/>
              </a:rPr>
              <a:t>https://www.yildizholding.com.tr</a:t>
            </a:r>
            <a:endParaRPr kumimoji="0" lang="tr-TR" altLang="tr-TR"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latin typeface="Arial" panose="020B0604020202020204" pitchFamily="34" charset="0"/>
              </a:rPr>
              <a:t>• Murat Ülker – Resmi Blog</a:t>
            </a:r>
            <a:br>
              <a:rPr kumimoji="0" lang="tr-TR" altLang="tr-TR" sz="2800" b="0" i="0" u="none" strike="noStrike" cap="none" normalizeH="0" baseline="0" dirty="0">
                <a:ln>
                  <a:noFill/>
                </a:ln>
                <a:solidFill>
                  <a:schemeClr val="tx1"/>
                </a:solidFill>
                <a:effectLst/>
                <a:latin typeface="Arial" panose="020B0604020202020204" pitchFamily="34" charset="0"/>
              </a:rPr>
            </a:br>
            <a:r>
              <a:rPr kumimoji="0" lang="tr-TR" altLang="tr-TR" sz="2800" b="0" i="0" u="none" strike="noStrike" cap="none" normalizeH="0" baseline="0" dirty="0">
                <a:ln>
                  <a:noFill/>
                </a:ln>
                <a:solidFill>
                  <a:schemeClr val="tx1"/>
                </a:solidFill>
                <a:effectLst/>
                <a:latin typeface="Arial" panose="020B0604020202020204" pitchFamily="34" charset="0"/>
                <a:hlinkClick r:id="rId3"/>
              </a:rPr>
              <a:t>https://muratulker.com</a:t>
            </a:r>
            <a:endParaRPr kumimoji="0" lang="tr-TR" altLang="tr-TR"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latin typeface="Arial" panose="020B0604020202020204" pitchFamily="34" charset="0"/>
              </a:rPr>
              <a:t>• </a:t>
            </a:r>
            <a:r>
              <a:rPr kumimoji="0" lang="tr-TR" altLang="tr-TR" sz="2800" b="0" i="0" u="none" strike="noStrike" cap="none" normalizeH="0" baseline="0" dirty="0" err="1">
                <a:ln>
                  <a:noFill/>
                </a:ln>
                <a:solidFill>
                  <a:schemeClr val="tx1"/>
                </a:solidFill>
                <a:effectLst/>
                <a:latin typeface="Arial" panose="020B0604020202020204" pitchFamily="34" charset="0"/>
              </a:rPr>
              <a:t>pladis</a:t>
            </a:r>
            <a:r>
              <a:rPr kumimoji="0" lang="tr-TR" altLang="tr-TR" sz="2800" b="0" i="0" u="none" strike="noStrike" cap="none" normalizeH="0" baseline="0" dirty="0">
                <a:ln>
                  <a:noFill/>
                </a:ln>
                <a:solidFill>
                  <a:schemeClr val="tx1"/>
                </a:solidFill>
                <a:effectLst/>
                <a:latin typeface="Arial" panose="020B0604020202020204" pitchFamily="34" charset="0"/>
              </a:rPr>
              <a:t> – Resmi Web Sitesi</a:t>
            </a:r>
            <a:br>
              <a:rPr kumimoji="0" lang="tr-TR" altLang="tr-TR" sz="2800" b="0" i="0" u="none" strike="noStrike" cap="none" normalizeH="0" baseline="0" dirty="0">
                <a:ln>
                  <a:noFill/>
                </a:ln>
                <a:solidFill>
                  <a:schemeClr val="tx1"/>
                </a:solidFill>
                <a:effectLst/>
                <a:latin typeface="Arial" panose="020B0604020202020204" pitchFamily="34" charset="0"/>
              </a:rPr>
            </a:br>
            <a:r>
              <a:rPr kumimoji="0" lang="tr-TR" altLang="tr-TR" sz="2800" b="0" i="0" u="none" strike="noStrike" cap="none" normalizeH="0" baseline="0" dirty="0">
                <a:ln>
                  <a:noFill/>
                </a:ln>
                <a:solidFill>
                  <a:schemeClr val="tx1"/>
                </a:solidFill>
                <a:effectLst/>
                <a:latin typeface="Arial" panose="020B0604020202020204" pitchFamily="34" charset="0"/>
                <a:hlinkClick r:id="rId4"/>
              </a:rPr>
              <a:t>https://www.pladisglobal.com</a:t>
            </a:r>
            <a:endParaRPr kumimoji="0" lang="tr-TR" altLang="tr-TR"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latin typeface="Arial" panose="020B0604020202020204" pitchFamily="34" charset="0"/>
              </a:rPr>
              <a:t>• Ülker – Resmi Web Sitesi</a:t>
            </a:r>
            <a:br>
              <a:rPr kumimoji="0" lang="tr-TR" altLang="tr-TR" sz="2800" b="0" i="0" u="none" strike="noStrike" cap="none" normalizeH="0" baseline="0" dirty="0">
                <a:ln>
                  <a:noFill/>
                </a:ln>
                <a:solidFill>
                  <a:schemeClr val="tx1"/>
                </a:solidFill>
                <a:effectLst/>
                <a:latin typeface="Arial" panose="020B0604020202020204" pitchFamily="34" charset="0"/>
              </a:rPr>
            </a:br>
            <a:r>
              <a:rPr kumimoji="0" lang="tr-TR" altLang="tr-TR" sz="2800" b="0" i="0" u="none" strike="noStrike" cap="none" normalizeH="0" baseline="0" dirty="0">
                <a:ln>
                  <a:noFill/>
                </a:ln>
                <a:solidFill>
                  <a:schemeClr val="tx1"/>
                </a:solidFill>
                <a:effectLst/>
                <a:latin typeface="Arial" panose="020B0604020202020204" pitchFamily="34" charset="0"/>
                <a:hlinkClick r:id="rId5"/>
              </a:rPr>
              <a:t>https://www.ulker.com.tr</a:t>
            </a:r>
            <a:endParaRPr kumimoji="0" lang="tr-TR" altLang="tr-TR"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latin typeface="Arial" panose="020B0604020202020204" pitchFamily="34" charset="0"/>
              </a:rPr>
              <a:t>• Forbes Türkiye – Murat Ülker içerikleri</a:t>
            </a:r>
            <a:br>
              <a:rPr kumimoji="0" lang="tr-TR" altLang="tr-TR" sz="2800" b="0" i="0" u="none" strike="noStrike" cap="none" normalizeH="0" baseline="0" dirty="0">
                <a:ln>
                  <a:noFill/>
                </a:ln>
                <a:solidFill>
                  <a:schemeClr val="tx1"/>
                </a:solidFill>
                <a:effectLst/>
                <a:latin typeface="Arial" panose="020B0604020202020204" pitchFamily="34" charset="0"/>
              </a:rPr>
            </a:br>
            <a:r>
              <a:rPr kumimoji="0" lang="tr-TR" altLang="tr-TR" sz="2800" b="0" i="0" u="none" strike="noStrike" cap="none" normalizeH="0" baseline="0" dirty="0">
                <a:ln>
                  <a:noFill/>
                </a:ln>
                <a:solidFill>
                  <a:schemeClr val="tx1"/>
                </a:solidFill>
                <a:effectLst/>
                <a:latin typeface="Arial" panose="020B0604020202020204" pitchFamily="34" charset="0"/>
                <a:hlinkClick r:id="rId6"/>
              </a:rPr>
              <a:t>https://www.forbes.com.tr</a:t>
            </a:r>
            <a:endParaRPr kumimoji="0" lang="tr-TR" altLang="tr-TR"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latin typeface="Arial" panose="020B0604020202020204" pitchFamily="34" charset="0"/>
              </a:rPr>
              <a:t>• Wikipedia – Genel bilgiler</a:t>
            </a:r>
            <a:br>
              <a:rPr kumimoji="0" lang="tr-TR" altLang="tr-TR" sz="2800" b="0" i="0" u="none" strike="noStrike" cap="none" normalizeH="0" baseline="0" dirty="0">
                <a:ln>
                  <a:noFill/>
                </a:ln>
                <a:solidFill>
                  <a:schemeClr val="tx1"/>
                </a:solidFill>
                <a:effectLst/>
                <a:latin typeface="Arial" panose="020B0604020202020204" pitchFamily="34" charset="0"/>
              </a:rPr>
            </a:br>
            <a:r>
              <a:rPr kumimoji="0" lang="tr-TR" altLang="tr-TR" sz="2800" b="0" i="0" u="none" strike="noStrike" cap="none" normalizeH="0" baseline="0" dirty="0">
                <a:ln>
                  <a:noFill/>
                </a:ln>
                <a:solidFill>
                  <a:schemeClr val="tx1"/>
                </a:solidFill>
                <a:effectLst/>
                <a:latin typeface="Arial" panose="020B0604020202020204" pitchFamily="34" charset="0"/>
                <a:hlinkClick r:id="rId7"/>
              </a:rPr>
              <a:t>https://tr.wikipedia.org/wiki/Murat_Ülker</a:t>
            </a:r>
            <a:endParaRPr kumimoji="0" lang="tr-TR" altLang="tr-TR"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latin typeface="Arial" panose="020B0604020202020204" pitchFamily="34" charset="0"/>
              </a:rPr>
              <a:t>• Anadolu Ajansı – Haber ve güncel bilgiler</a:t>
            </a:r>
            <a:br>
              <a:rPr kumimoji="0" lang="tr-TR" altLang="tr-TR" sz="2800" b="0" i="0" u="none" strike="noStrike" cap="none" normalizeH="0" baseline="0" dirty="0">
                <a:ln>
                  <a:noFill/>
                </a:ln>
                <a:solidFill>
                  <a:schemeClr val="tx1"/>
                </a:solidFill>
                <a:effectLst/>
                <a:latin typeface="Arial" panose="020B0604020202020204" pitchFamily="34" charset="0"/>
              </a:rPr>
            </a:br>
            <a:r>
              <a:rPr kumimoji="0" lang="tr-TR" altLang="tr-TR" sz="2800" b="0" i="0" u="none" strike="noStrike" cap="none" normalizeH="0" baseline="0" dirty="0">
                <a:ln>
                  <a:noFill/>
                </a:ln>
                <a:solidFill>
                  <a:schemeClr val="tx1"/>
                </a:solidFill>
                <a:effectLst/>
                <a:latin typeface="Arial" panose="020B0604020202020204" pitchFamily="34" charset="0"/>
                <a:hlinkClick r:id="rId8"/>
              </a:rPr>
              <a:t>https://www.aa.com.tr</a:t>
            </a:r>
            <a:endParaRPr kumimoji="0" lang="tr-TR" altLang="tr-TR"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9608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868</Words>
  <Application>Microsoft Office PowerPoint</Application>
  <PresentationFormat>Özel</PresentationFormat>
  <Paragraphs>115</Paragraphs>
  <Slides>12</Slides>
  <Notes>10</Notes>
  <HiddenSlides>0</HiddenSlides>
  <MMClips>1</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12</vt:i4>
      </vt:variant>
    </vt:vector>
  </HeadingPairs>
  <TitlesOfParts>
    <vt:vector size="17" baseType="lpstr">
      <vt:lpstr>Inter</vt:lpstr>
      <vt:lpstr>Inter Bold</vt:lpstr>
      <vt:lpstr>Arial</vt:lpstr>
      <vt:lpstr>Inter Light</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Şevval</dc:creator>
  <cp:lastModifiedBy>cineksevval52@gmail.com</cp:lastModifiedBy>
  <cp:revision>7</cp:revision>
  <dcterms:created xsi:type="dcterms:W3CDTF">2026-03-30T18:07:35Z</dcterms:created>
  <dcterms:modified xsi:type="dcterms:W3CDTF">2026-04-13T18:56:56Z</dcterms:modified>
</cp:coreProperties>
</file>